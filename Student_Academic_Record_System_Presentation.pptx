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562" y="2503289"/>
            <a:ext cx="2428875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30554" y="3084314"/>
            <a:ext cx="7130891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8FAFC"/>
                </a:solidFill>
                <a:latin typeface="Poppins"/>
              </a:rPr>
              <a:t>Academic Record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867150"/>
            <a:ext cx="80962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An Object-Oriented Python Architecture for Student Transcript, Course Enrollment, and GPA Management in "Computing &amp; Data Sciences"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537" y="2608064"/>
            <a:ext cx="1809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0654" y="2998440"/>
            <a:ext cx="5530691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01.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75" y="3745110"/>
            <a:ext cx="6191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In-memory data structures, parallel dict mapping, and level-based course catalogs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93118"/>
            <a:ext cx="5372100" cy="336872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93118"/>
            <a:ext cx="5372100" cy="33687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580655"/>
            <a:ext cx="4781550" cy="1400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580655"/>
            <a:ext cx="4781550" cy="15859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20005"/>
            <a:ext cx="3048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2388393"/>
            <a:ext cx="5020627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Parallel Dict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754064"/>
            <a:ext cx="47815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The system initializes global student data using a synchronized dictionary storing parallel lists for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name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ID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GPA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CGPA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Grades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and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level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388393"/>
            <a:ext cx="5020627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Course Catalogs (Levels 1-4)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754064"/>
            <a:ext cx="47815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Courses are organized into distinct dictionaries (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Courses1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through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Courses4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) representing academic years 1 to 4, mapping each course name to its credit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3918793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"name"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9675" y="4104530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"ID"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9675" y="4290268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"GPA"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4476005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"level"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3918793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"Linear Algebra"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525" y="4104530"/>
            <a:ext cx="1295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"Data Structures"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4661743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3E635"/>
                </a:solidFill>
                <a:latin typeface="Fira Code"/>
              </a:rPr>
              <a:t>"Big Data Analytics"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85775"/>
            <a:ext cx="11141392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Core Data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20005"/>
            <a:ext cx="428625" cy="3429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33500" y="2274689"/>
            <a:ext cx="95250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47850" y="2446139"/>
            <a:ext cx="88201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Score-to-Grade Converter (</a:t>
            </a:r>
            <a:r>
              <a:rPr sz="1200" b="1" i="0" u="none">
                <a:solidFill>
                  <a:srgbClr val="38BDF8"/>
                </a:solidFill>
                <a:latin typeface="Inter"/>
              </a:rPr>
              <a:t>score_to_grade</a:t>
            </a:r>
            <a:r>
              <a:rPr sz="1200" b="1" i="0" u="none">
                <a:solidFill>
                  <a:srgbClr val="F8FAFC"/>
                </a:solidFill>
                <a:latin typeface="Inter"/>
              </a:rPr>
              <a:t>):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Maps raw scores (0-100) into letter grades (A through F) and 4.0-scale quality points (e.g., ≥90 → A / 4.0, ≥85 → A- / 3.666).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3276600"/>
            <a:ext cx="95250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47850" y="3448050"/>
            <a:ext cx="88201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Academic Standing Evaluation (</a:t>
            </a:r>
            <a:r>
              <a:rPr sz="1200" b="1" i="0" u="none">
                <a:solidFill>
                  <a:srgbClr val="38BDF8"/>
                </a:solidFill>
                <a:latin typeface="Inter"/>
              </a:rPr>
              <a:t>academic_standing</a:t>
            </a:r>
            <a:r>
              <a:rPr sz="1200" b="1" i="0" u="none">
                <a:solidFill>
                  <a:srgbClr val="F8FAFC"/>
                </a:solidFill>
                <a:latin typeface="Inter"/>
              </a:rPr>
              <a:t>):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Dynamically classifies students based on CGPA thresholds: Good Standing (≥2.00), Academic Warning (≥1.666), or Academic Probation (&lt;1.666).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4278510"/>
            <a:ext cx="95250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47850" y="4449960"/>
            <a:ext cx="88201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Course Enrollment Mapping: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Uses dictionary comprehensions to initialize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student_courses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and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current_term_courses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per student.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3114675"/>
            <a:ext cx="952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33500" y="4116585"/>
            <a:ext cx="952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3500" y="5118496"/>
            <a:ext cx="952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2469951"/>
            <a:ext cx="1428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347186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" y="4473773"/>
            <a:ext cx="21907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50" y="485775"/>
            <a:ext cx="1101137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Grading &amp; Standing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5547" y="3150840"/>
            <a:ext cx="724090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02. Object-Oriented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81350" y="3897510"/>
            <a:ext cx="5829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Abstract base classes, encapsulation, and inheritance hierarchy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78434"/>
            <a:ext cx="3524250" cy="25980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78434"/>
            <a:ext cx="3524250" cy="25980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478434"/>
            <a:ext cx="3524250" cy="259809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20005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754659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459509"/>
            <a:ext cx="261032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FacultyMember (ABC)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25180"/>
            <a:ext cx="29718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Abstract Base Class utilizing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from abc import ABC, abstractmethod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enforcing a uniform interface via abstract method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display_info()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2754659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459509"/>
            <a:ext cx="16002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Student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25180"/>
            <a:ext cx="29718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Inherits from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FacultyMember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. Encapsulates private attributes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__name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__student_id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and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__level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with getters/setters.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950" y="2754659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2950" y="3459509"/>
            <a:ext cx="156019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Advisor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2950" y="3825180"/>
            <a:ext cx="29718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Concrete implementation inheriting from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FacultyMember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, managing advisor profile records and departmental assignments.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312" y="2888009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7737" y="2888009"/>
            <a:ext cx="2190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0587" y="2888009"/>
            <a:ext cx="21907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50" y="485775"/>
            <a:ext cx="1105138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OOP Class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0505" y="3150840"/>
            <a:ext cx="7910988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oppins"/>
              </a:rPr>
              <a:t>03. Calculations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5625" y="3897510"/>
            <a:ext cx="6000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Weighted GPA formulas, transcript generation, and term resetting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82081"/>
            <a:ext cx="537210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3700760"/>
            <a:ext cx="5372100" cy="471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20005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225081"/>
            <a:ext cx="53721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Inter SemiBold"/>
              </a:rPr>
              <a:t>Maximum Quality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2752278"/>
            <a:ext cx="564070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Credit-Weighted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3117949"/>
            <a:ext cx="53721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The function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calculate_gpa_from_courses()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iterates over enrolled courses, computing weighted points: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4315122"/>
            <a:ext cx="53721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Differentiates between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update_gpa()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for current term courses and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update_cgpa()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for all historic courses combined.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85775"/>
            <a:ext cx="11101387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Weighted GPA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06066"/>
            <a:ext cx="11029950" cy="33429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20005"/>
            <a:ext cx="342900" cy="3429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0550" y="2115591"/>
          <a:ext cx="11010897" cy="3323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053"/>
                <a:gridCol w="2248197"/>
                <a:gridCol w="2320230"/>
                <a:gridCol w="4201417"/>
              </a:tblGrid>
              <a:tr h="5539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Score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Letter Grade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Grade Points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Academic Standing Minimum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39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≥ 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4.000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2C55E"/>
                          </a:solidFill>
                          <a:latin typeface="Inter"/>
                        </a:rPr>
                        <a:t>Good Standing (≥2.00)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39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85 - 89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A-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3.666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2C55E"/>
                          </a:solidFill>
                          <a:latin typeface="Inter"/>
                        </a:rPr>
                        <a:t>Good Standing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39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75 - 79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3.000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2C55E"/>
                          </a:solidFill>
                          <a:latin typeface="Inter"/>
                        </a:rPr>
                        <a:t>Good Standing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39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56 - 59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C-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1.666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AB308"/>
                          </a:solidFill>
                          <a:latin typeface="Inter"/>
                        </a:rPr>
                        <a:t>Academic Warning (≥1.666)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399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&lt; 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0.000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F4444"/>
                          </a:solidFill>
                          <a:latin typeface="Inter"/>
                        </a:rPr>
                        <a:t>Academic Probation (&lt;1.666)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0550" y="2644229"/>
            <a:ext cx="22410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31603" y="2644229"/>
            <a:ext cx="22481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79801" y="2644229"/>
            <a:ext cx="23202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0032" y="2644229"/>
            <a:ext cx="42014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202334"/>
            <a:ext cx="22410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1603" y="3202334"/>
            <a:ext cx="22481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9801" y="3202334"/>
            <a:ext cx="23202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0032" y="3202334"/>
            <a:ext cx="42014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3760440"/>
            <a:ext cx="22410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1603" y="3760440"/>
            <a:ext cx="22481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9801" y="3760440"/>
            <a:ext cx="23202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0032" y="3760440"/>
            <a:ext cx="42014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0550" y="4318545"/>
            <a:ext cx="22410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31603" y="4318545"/>
            <a:ext cx="22481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79801" y="4318545"/>
            <a:ext cx="23202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0032" y="4318545"/>
            <a:ext cx="42014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0550" y="4876651"/>
            <a:ext cx="224105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31603" y="4876651"/>
            <a:ext cx="224819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79801" y="4876651"/>
            <a:ext cx="23202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00032" y="4876651"/>
            <a:ext cx="420141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8225" y="485775"/>
            <a:ext cx="11101387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Implemented Grading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45234"/>
            <a:ext cx="2426493" cy="1226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794" y="2973734"/>
            <a:ext cx="2426493" cy="12171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563" y="3545234"/>
            <a:ext cx="2426493" cy="12171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332" y="2973734"/>
            <a:ext cx="2426493" cy="12171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20005"/>
            <a:ext cx="428625" cy="342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1025" y="3858517"/>
            <a:ext cx="1102995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3726209"/>
            <a:ext cx="2167770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 u="none">
                <a:solidFill>
                  <a:srgbClr val="38BDF8"/>
                </a:solidFill>
                <a:latin typeface="Poppins SemiBold"/>
              </a:rPr>
              <a:t>1.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77580"/>
            <a:ext cx="2064543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add_student()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validates ID/level and instantiates a new </a:t>
            </a:r>
            <a:r>
              <a:rPr sz="975" b="0" i="0" u="none">
                <a:solidFill>
                  <a:srgbClr val="38BDF8"/>
                </a:solidFill>
                <a:latin typeface="Inter"/>
              </a:rPr>
              <a:t>Student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object.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769" y="3154709"/>
            <a:ext cx="2167770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 u="none">
                <a:solidFill>
                  <a:srgbClr val="38BDF8"/>
                </a:solidFill>
                <a:latin typeface="Poppins SemiBold"/>
              </a:rPr>
              <a:t>2. Enrollment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769" y="3406080"/>
            <a:ext cx="2064543" cy="603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enroll_course()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lists level courses, records raw scores, and assigns grade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7538" y="3726209"/>
            <a:ext cx="2167770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 u="none">
                <a:solidFill>
                  <a:srgbClr val="38BDF8"/>
                </a:solidFill>
                <a:latin typeface="Poppins SemiBold"/>
              </a:rPr>
              <a:t>3.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7538" y="3977580"/>
            <a:ext cx="2064543" cy="603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show_transcript()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computes term GPA, CGPA, and updates standing status.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5307" y="3154709"/>
            <a:ext cx="2167770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 u="none">
                <a:solidFill>
                  <a:srgbClr val="38BDF8"/>
                </a:solidFill>
                <a:latin typeface="Poppins SemiBold"/>
              </a:rPr>
              <a:t>4. Term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5307" y="3406080"/>
            <a:ext cx="2064543" cy="603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start_new_term()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resets term course memory while preserving cumulative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50" y="485775"/>
            <a:ext cx="1101137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Student Academic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08546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6316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44085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311854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63055"/>
            <a:ext cx="537210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20005"/>
            <a:ext cx="3429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63055"/>
            <a:ext cx="564070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38BDF8"/>
                </a:solidFill>
                <a:latin typeface="Poppins SemiBold"/>
              </a:rPr>
              <a:t>Data Persistence &amp; CLI Interface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072580"/>
            <a:ext cx="5353050" cy="34099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1025" y="2428726"/>
            <a:ext cx="53721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5375" y="2600176"/>
            <a:ext cx="46672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JSON Serialization: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save_data()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writes student records and course histories into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students_data.json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3430637"/>
            <a:ext cx="53721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5375" y="3602087"/>
            <a:ext cx="46672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Data Restoration: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load_data()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reads JSON state on startup, reconstructing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Student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objects dynamically.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4432548"/>
            <a:ext cx="53721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5375" y="4603998"/>
            <a:ext cx="46672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Interactive Main Loop: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Menu system with options 1-12 handling student lookups, grade updates, and advisor routines.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3268712"/>
            <a:ext cx="53721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270623"/>
            <a:ext cx="53721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272533"/>
            <a:ext cx="53721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623988"/>
            <a:ext cx="1428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625899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627810"/>
            <a:ext cx="21907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8225" y="485775"/>
            <a:ext cx="11101387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Poppins"/>
              </a:rPr>
              <a:t>Persistence &amp; Interactive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532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Mark Nabil</cp:lastModifiedBy>
  <cp:revision>2</cp:revision>
  <dcterms:created xsi:type="dcterms:W3CDTF">2013-01-27T09:14:16Z</dcterms:created>
  <dcterms:modified xsi:type="dcterms:W3CDTF">2026-08-19T15:01:33Z</dcterms:modified>
  <cp:category/>
</cp:coreProperties>
</file>